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3482EE3-6C02-FEC7-E844-CFB36D0E3600}">
          <p14:sldIdLst>
            <p14:sldId id="256"/>
          </p14:sldIdLst>
        </p14:section>
        <p14:section name="Investigación" id="{64EBFFE3-1AA7-4522-EDA7-C498AEFEF798}">
          <p14:sldIdLst>
            <p14:sldId id="257"/>
          </p14:sldIdLst>
        </p14:section>
        <p14:section name="Método" id="{16840177-1EFD-32A8-05D6-E11B9016F52C}">
          <p14:sldIdLst>
            <p14:sldId id="258"/>
            <p14:sldId id="259"/>
          </p14:sldIdLst>
        </p14:section>
        <p14:section name="Demo" id="{C78B3DE3-8619-0808-3D95-8BF2226F344E}">
          <p14:sldIdLst>
            <p14:sldId id="260"/>
          </p14:sldIdLst>
        </p14:section>
        <p14:section name="Resultados" id="{B15D71B2-239B-B0E0-BBFC-BE85042E4F19}">
          <p14:sldIdLst>
            <p14:sldId id="261"/>
            <p14:sldId id="262"/>
            <p14:sldId id="263"/>
          </p14:sldIdLst>
        </p14:section>
        <p14:section name="Cierre" id="{5B66DC66-E218-0738-E367-74795A480045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14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Deiner: presentación del equipo y del tema. Investigamos qué tanto se ve un ataque de fuerza bruta y el abuso de PowerShell en los registros de Windows 11, y cuánto mejora al activar la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Deiner: la pregunta viene del enunciado. La hipótesis: por defecto solo veríamos inicios de sesión; con auditoría aparecerían los cuatro eventos, y una regla de 5 fallos en 2 minutos detectaría la fuerza bruta. Se basa en que Microsoft indica que varios registros se activan por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Warner: diseño antes y después. Medimos el estado por defecto, activamos la auditoría con nuestro script, simulamos la fuerza bruta escribiendo contraseñas incorrectas con runas contra una cuenta de prueba, y analizamos el JSON en la app. Todo en una VM propia con Windows 11 LTSC y PowerShell 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Warner: tres piezas. El script de configuración activa la auditoría guardando un respaldo y la puede revertir. El recolector solo lee los eventos y los guarda en un JSON con los seis campos mínimos. La app web carga ese JSON en el navegador; nada sale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Ambos: Deiner ejecuta los comandos en la VM; Warner explica la app. Si el profesor pide un cambio, ajustar la regla (por ejemplo 3 fallos en 1 minuto) o el parámetro -Horas. Tener la grabación de respaldo abierta por si la VM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Deiner: con Windows tal como viene se ven los inicios de sesión y el bloqueo, pero no los programas, la línea de comandos, los scripts ni los intentos contra una cuenta bloqueada. El script activa todo y lo puede revertir: el estado final quedó igual al inicial. También el registro Security pasó de 20 a 128 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Warner: este es el hallazgo principal. La cuenta se bloquea al décimo fallo. Con la configuración por defecto, los 6 intentos siguientes no dejaron ningún 4625: el 37,5 % del ataque no se ve. Esos intentos los registra la subcategoría Account Lockout, que por defecto solo audita aciertos. Al activarla, se ven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Warner: la app agrupa los 4625 por cuenta y revisa si el primero y el quinto fallo están a menos de 2 minutos. Con los datos reales salen 2 alertas y el semáforo en rojo. Si subimos el umbral a 12, ya no detecta ninguna. Esta es la línea de código que hace la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Deiner: la hipótesis se cumplió en sus dos partes. Y encontramos algo que no esperábamos: el bloqueo de cuenta detiene el ataque, pero por defecto también oculta que el atacante siguió intentando. Recomendamos activar Account Lockout con errores y ampliar el tamaño de los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Warner: la IA ayudó a avanzar rápido, pero cuatro cosas tuvo que corregir el equipo al probar en la VM. El caso más valioso: al ver que faltaban intentos, descubrimos que la IA no había activado Account Lockout. Todo está en la bitácora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Ambos: preguntas. Si piden un cambio en vivo: cambiar la regla en la pantalla Eventos, volver a recolectar con otro -Horas, o explicar la línea de la regla en js/app.js.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o-terminal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685800" cy="685800"/>
          </a:xfrm>
          <a:prstGeom prst="rect">
            <a:avLst/>
          </a:prstGeom>
        </p:spPr>
      </p:pic>
      <p:sp>
        <p:nvSpPr>
          <p:cNvPr id="3" name="titulo-portada"/>
          <p:cNvSpPr txBox="1"/>
          <p:nvPr/>
        </p:nvSpPr>
        <p:spPr>
          <a:xfrm>
            <a:off x="640080" y="20116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PowerShell y logging de seguridad en Windows</a:t>
            </a:r>
            <a:endParaRPr lang="en-US" sz="40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¿Qué tanto se ve una fuerza bruta en los registros de Windows?</a:t>
            </a:r>
            <a:endParaRPr lang="en-US" sz="2000" dirty="0"/>
          </a:p>
        </p:txBody>
      </p:sp>
      <p:sp>
        <p:nvSpPr>
          <p:cNvPr id="5" name="autores"/>
          <p:cNvSpPr txBox="1"/>
          <p:nvPr/>
        </p:nvSpPr>
        <p:spPr>
          <a:xfrm>
            <a:off x="640080" y="48463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Deiner Brenes Soto · Warner Mora Taisigue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ISW-612 Administración de Sistemas Operativos de Red · Prof. Marcos Castro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Universidad Técnica Nacional · 26 de octubre de 2026</a:t>
            </a:r>
            <a:endParaRPr lang="en-US" sz="1400" dirty="0"/>
          </a:p>
        </p:txBody>
      </p:sp>
      <p:sp>
        <p:nvSpPr>
          <p:cNvPr id="6" name="consola-portada-marco"/>
          <p:cNvSpPr/>
          <p:nvPr/>
        </p:nvSpPr>
        <p:spPr>
          <a:xfrm>
            <a:off x="905256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consola-portada-punto0"/>
          <p:cNvSpPr/>
          <p:nvPr/>
        </p:nvSpPr>
        <p:spPr>
          <a:xfrm>
            <a:off x="9217152" y="1380744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onsola-portada-punto1"/>
          <p:cNvSpPr/>
          <p:nvPr/>
        </p:nvSpPr>
        <p:spPr>
          <a:xfrm>
            <a:off x="9418320" y="1380744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onsola-portada-punto2"/>
          <p:cNvSpPr/>
          <p:nvPr/>
        </p:nvSpPr>
        <p:spPr>
          <a:xfrm>
            <a:off x="9619488" y="1380744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onsola-portada-titulo"/>
          <p:cNvSpPr txBox="1"/>
          <p:nvPr/>
        </p:nvSpPr>
        <p:spPr>
          <a:xfrm>
            <a:off x="9875520" y="1298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C:\&gt;</a:t>
            </a:r>
            <a:endParaRPr lang="en-US" sz="1100" dirty="0"/>
          </a:p>
        </p:txBody>
      </p:sp>
      <p:sp>
        <p:nvSpPr>
          <p:cNvPr id="11" name="consola-portada-texto"/>
          <p:cNvSpPr txBox="1"/>
          <p:nvPr/>
        </p:nvSpPr>
        <p:spPr>
          <a:xfrm>
            <a:off x="9253728" y="1627632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4625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4625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2B7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4740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F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alerta_</a:t>
            </a:r>
            <a:endParaRPr lang="en-US" sz="16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Pregunta e hipótesis</a:t>
            </a:r>
            <a:endParaRPr lang="en-US" sz="3400" dirty="0"/>
          </a:p>
        </p:txBody>
      </p:sp>
      <p:sp>
        <p:nvSpPr>
          <p:cNvPr id="3" name="caja-pregunta"/>
          <p:cNvSpPr/>
          <p:nvPr/>
        </p:nvSpPr>
        <p:spPr>
          <a:xfrm>
            <a:off x="640080" y="1371600"/>
            <a:ext cx="1088136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regunta-circulo"/>
          <p:cNvSpPr/>
          <p:nvPr/>
        </p:nvSpPr>
        <p:spPr>
          <a:xfrm>
            <a:off x="914400" y="1600200"/>
            <a:ext cx="822960" cy="8229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5" name="pregunta-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05940"/>
            <a:ext cx="411480" cy="411480"/>
          </a:xfrm>
          <a:prstGeom prst="rect">
            <a:avLst/>
          </a:prstGeom>
        </p:spPr>
      </p:pic>
      <p:sp>
        <p:nvSpPr>
          <p:cNvPr id="6" name="pregunta"/>
          <p:cNvSpPr txBox="1"/>
          <p:nvPr/>
        </p:nvSpPr>
        <p:spPr>
          <a:xfrm>
            <a:off x="1965960" y="146304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chemeClr val="bg1"/>
                </a:solidFill>
              </a:rPr>
              <a:t>¿Qué visibilidad dan los eventos de Windows y el logging de PowerShell para detectar fuerza bruta y abuso de scripts?</a:t>
            </a:r>
            <a:endParaRPr lang="en-US" sz="2200" dirty="0"/>
          </a:p>
        </p:txBody>
      </p:sp>
      <p:sp>
        <p:nvSpPr>
          <p:cNvPr id="7" name="hip-titulo"/>
          <p:cNvSpPr txBox="1"/>
          <p:nvPr/>
        </p:nvSpPr>
        <p:spPr>
          <a:xfrm>
            <a:off x="64008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 que esperábamos</a:t>
            </a:r>
            <a:endParaRPr lang="en-US" sz="2000" dirty="0"/>
          </a:p>
        </p:txBody>
      </p:sp>
      <p:sp>
        <p:nvSpPr>
          <p:cNvPr id="8" name="hip0-tarjeta"/>
          <p:cNvSpPr/>
          <p:nvPr/>
        </p:nvSpPr>
        <p:spPr>
          <a:xfrm>
            <a:off x="640080" y="3566160"/>
            <a:ext cx="34290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ip0-circulo"/>
          <p:cNvSpPr/>
          <p:nvPr/>
        </p:nvSpPr>
        <p:spPr>
          <a:xfrm>
            <a:off x="914400" y="3794760"/>
            <a:ext cx="685800" cy="6858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0" name="hip0-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3966210"/>
            <a:ext cx="342900" cy="342900"/>
          </a:xfrm>
          <a:prstGeom prst="rect">
            <a:avLst/>
          </a:prstGeom>
        </p:spPr>
      </p:pic>
      <p:sp>
        <p:nvSpPr>
          <p:cNvPr id="11" name="hip0-titulo"/>
          <p:cNvSpPr txBox="1"/>
          <p:nvPr/>
        </p:nvSpPr>
        <p:spPr>
          <a:xfrm>
            <a:off x="91440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defecto</a:t>
            </a:r>
            <a:endParaRPr lang="en-US" sz="1800" dirty="0"/>
          </a:p>
        </p:txBody>
      </p:sp>
      <p:sp>
        <p:nvSpPr>
          <p:cNvPr id="12" name="hip0-texto"/>
          <p:cNvSpPr txBox="1"/>
          <p:nvPr/>
        </p:nvSpPr>
        <p:spPr>
          <a:xfrm>
            <a:off x="91440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Solo se ven los inicios de sesión (4624 y 4625)</a:t>
            </a:r>
            <a:endParaRPr lang="en-US" sz="1500" dirty="0"/>
          </a:p>
        </p:txBody>
      </p:sp>
      <p:sp>
        <p:nvSpPr>
          <p:cNvPr id="13" name="hip1-tarjeta"/>
          <p:cNvSpPr/>
          <p:nvPr/>
        </p:nvSpPr>
        <p:spPr>
          <a:xfrm>
            <a:off x="4343400" y="3566160"/>
            <a:ext cx="34290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hip1-circulo"/>
          <p:cNvSpPr/>
          <p:nvPr/>
        </p:nvSpPr>
        <p:spPr>
          <a:xfrm>
            <a:off x="4617720" y="3794760"/>
            <a:ext cx="685800" cy="685800"/>
          </a:xfrm>
          <a:prstGeom prst="ellipse">
            <a:avLst/>
          </a:prstGeom>
          <a:solidFill>
            <a:srgbClr val="4C8DF6"/>
          </a:solidFill>
          <a:ln w="12700">
            <a:solidFill>
              <a:srgbClr val="4C8DF6"/>
            </a:solidFill>
            <a:prstDash val="solid"/>
          </a:ln>
        </p:spPr>
      </p:sp>
      <p:pic>
        <p:nvPicPr>
          <p:cNvPr id="15" name="hip1-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9170" y="3966210"/>
            <a:ext cx="342900" cy="342900"/>
          </a:xfrm>
          <a:prstGeom prst="rect">
            <a:avLst/>
          </a:prstGeom>
        </p:spPr>
      </p:pic>
      <p:sp>
        <p:nvSpPr>
          <p:cNvPr id="16" name="hip1-titulo"/>
          <p:cNvSpPr txBox="1"/>
          <p:nvPr/>
        </p:nvSpPr>
        <p:spPr>
          <a:xfrm>
            <a:off x="461772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 auditoría</a:t>
            </a:r>
            <a:endParaRPr lang="en-US" sz="1800" dirty="0"/>
          </a:p>
        </p:txBody>
      </p:sp>
      <p:sp>
        <p:nvSpPr>
          <p:cNvPr id="17" name="hip1-texto"/>
          <p:cNvSpPr txBox="1"/>
          <p:nvPr/>
        </p:nvSpPr>
        <p:spPr>
          <a:xfrm>
            <a:off x="461772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Aparecen también procesos (4688) y scripts (4104)</a:t>
            </a:r>
            <a:endParaRPr lang="en-US" sz="1500" dirty="0"/>
          </a:p>
        </p:txBody>
      </p:sp>
      <p:sp>
        <p:nvSpPr>
          <p:cNvPr id="18" name="hip2-tarjeta"/>
          <p:cNvSpPr/>
          <p:nvPr/>
        </p:nvSpPr>
        <p:spPr>
          <a:xfrm>
            <a:off x="8046720" y="3566160"/>
            <a:ext cx="34290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hip2-circulo"/>
          <p:cNvSpPr/>
          <p:nvPr/>
        </p:nvSpPr>
        <p:spPr>
          <a:xfrm>
            <a:off x="8321040" y="3794760"/>
            <a:ext cx="685800" cy="6858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20" name="hip2-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3966210"/>
            <a:ext cx="342900" cy="342900"/>
          </a:xfrm>
          <a:prstGeom prst="rect">
            <a:avLst/>
          </a:prstGeom>
        </p:spPr>
      </p:pic>
      <p:sp>
        <p:nvSpPr>
          <p:cNvPr id="21" name="hip2-titulo"/>
          <p:cNvSpPr txBox="1"/>
          <p:nvPr/>
        </p:nvSpPr>
        <p:spPr>
          <a:xfrm>
            <a:off x="832104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 una regla simple</a:t>
            </a:r>
            <a:endParaRPr lang="en-US" sz="1800" dirty="0"/>
          </a:p>
        </p:txBody>
      </p:sp>
      <p:sp>
        <p:nvSpPr>
          <p:cNvPr id="22" name="hip2-texto"/>
          <p:cNvSpPr txBox="1"/>
          <p:nvPr/>
        </p:nvSpPr>
        <p:spPr>
          <a:xfrm>
            <a:off x="832104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“5 fallos en 2 minutos” detecta la fuerza bruta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Método: la misma prueba, antes y después</a:t>
            </a:r>
            <a:endParaRPr lang="en-US" sz="3400" dirty="0"/>
          </a:p>
        </p:txBody>
      </p:sp>
      <p:sp>
        <p:nvSpPr>
          <p:cNvPr id="3" name="paso0-circulo"/>
          <p:cNvSpPr/>
          <p:nvPr/>
        </p:nvSpPr>
        <p:spPr>
          <a:xfrm>
            <a:off x="1508760" y="14630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so0-numero"/>
          <p:cNvSpPr txBox="1"/>
          <p:nvPr/>
        </p:nvSpPr>
        <p:spPr>
          <a:xfrm>
            <a:off x="150876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paso0-flecha"/>
          <p:cNvSpPr/>
          <p:nvPr/>
        </p:nvSpPr>
        <p:spPr>
          <a:xfrm>
            <a:off x="2468880" y="1874520"/>
            <a:ext cx="1828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paso0-titulo"/>
          <p:cNvSpPr txBox="1"/>
          <p:nvPr/>
        </p:nvSpPr>
        <p:spPr>
          <a:xfrm>
            <a:off x="64008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Medir</a:t>
            </a:r>
            <a:endParaRPr lang="en-US" sz="2000" dirty="0"/>
          </a:p>
        </p:txBody>
      </p:sp>
      <p:sp>
        <p:nvSpPr>
          <p:cNvPr id="7" name="paso0-texto"/>
          <p:cNvSpPr txBox="1"/>
          <p:nvPr/>
        </p:nvSpPr>
        <p:spPr>
          <a:xfrm>
            <a:off x="64008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Estado por defecto con el script</a:t>
            </a:r>
            <a:endParaRPr lang="en-US" sz="1500" dirty="0"/>
          </a:p>
        </p:txBody>
      </p:sp>
      <p:sp>
        <p:nvSpPr>
          <p:cNvPr id="8" name="paso1-circulo"/>
          <p:cNvSpPr/>
          <p:nvPr/>
        </p:nvSpPr>
        <p:spPr>
          <a:xfrm>
            <a:off x="4297680" y="14630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paso1-numero"/>
          <p:cNvSpPr txBox="1"/>
          <p:nvPr/>
        </p:nvSpPr>
        <p:spPr>
          <a:xfrm>
            <a:off x="42976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paso1-flecha"/>
          <p:cNvSpPr/>
          <p:nvPr/>
        </p:nvSpPr>
        <p:spPr>
          <a:xfrm>
            <a:off x="5257800" y="1874520"/>
            <a:ext cx="1828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paso1-titulo"/>
          <p:cNvSpPr txBox="1"/>
          <p:nvPr/>
        </p:nvSpPr>
        <p:spPr>
          <a:xfrm>
            <a:off x="342900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Activar</a:t>
            </a:r>
            <a:endParaRPr lang="en-US" sz="2000" dirty="0"/>
          </a:p>
        </p:txBody>
      </p:sp>
      <p:sp>
        <p:nvSpPr>
          <p:cNvPr id="12" name="paso1-texto"/>
          <p:cNvSpPr txBox="1"/>
          <p:nvPr/>
        </p:nvSpPr>
        <p:spPr>
          <a:xfrm>
            <a:off x="342900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Auditoría y registro de PowerShell</a:t>
            </a:r>
            <a:endParaRPr lang="en-US" sz="1500" dirty="0"/>
          </a:p>
        </p:txBody>
      </p:sp>
      <p:sp>
        <p:nvSpPr>
          <p:cNvPr id="13" name="paso2-circulo"/>
          <p:cNvSpPr/>
          <p:nvPr/>
        </p:nvSpPr>
        <p:spPr>
          <a:xfrm>
            <a:off x="7086600" y="14630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paso2-numero"/>
          <p:cNvSpPr txBox="1"/>
          <p:nvPr/>
        </p:nvSpPr>
        <p:spPr>
          <a:xfrm>
            <a:off x="70866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paso2-flecha"/>
          <p:cNvSpPr/>
          <p:nvPr/>
        </p:nvSpPr>
        <p:spPr>
          <a:xfrm>
            <a:off x="8046720" y="1874520"/>
            <a:ext cx="18288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paso2-titulo"/>
          <p:cNvSpPr txBox="1"/>
          <p:nvPr/>
        </p:nvSpPr>
        <p:spPr>
          <a:xfrm>
            <a:off x="621792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Simular</a:t>
            </a:r>
            <a:endParaRPr lang="en-US" sz="2000" dirty="0"/>
          </a:p>
        </p:txBody>
      </p:sp>
      <p:sp>
        <p:nvSpPr>
          <p:cNvPr id="17" name="paso2-texto"/>
          <p:cNvSpPr txBox="1"/>
          <p:nvPr/>
        </p:nvSpPr>
        <p:spPr>
          <a:xfrm>
            <a:off x="621792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Contraseñas incorrectas con runas</a:t>
            </a:r>
            <a:endParaRPr lang="en-US" sz="1500" dirty="0"/>
          </a:p>
        </p:txBody>
      </p:sp>
      <p:sp>
        <p:nvSpPr>
          <p:cNvPr id="18" name="paso3-circulo"/>
          <p:cNvSpPr/>
          <p:nvPr/>
        </p:nvSpPr>
        <p:spPr>
          <a:xfrm>
            <a:off x="9875520" y="146304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paso3-numero"/>
          <p:cNvSpPr txBox="1"/>
          <p:nvPr/>
        </p:nvSpPr>
        <p:spPr>
          <a:xfrm>
            <a:off x="98755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paso3-titulo"/>
          <p:cNvSpPr txBox="1"/>
          <p:nvPr/>
        </p:nvSpPr>
        <p:spPr>
          <a:xfrm>
            <a:off x="900684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Analizar</a:t>
            </a:r>
            <a:endParaRPr lang="en-US" sz="2000" dirty="0"/>
          </a:p>
        </p:txBody>
      </p:sp>
      <p:sp>
        <p:nvSpPr>
          <p:cNvPr id="21" name="paso3-texto"/>
          <p:cNvSpPr txBox="1"/>
          <p:nvPr/>
        </p:nvSpPr>
        <p:spPr>
          <a:xfrm>
            <a:off x="900684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JSON en la app web</a:t>
            </a:r>
            <a:endParaRPr lang="en-US" sz="1500" dirty="0"/>
          </a:p>
        </p:txBody>
      </p:sp>
      <p:sp>
        <p:nvSpPr>
          <p:cNvPr id="22" name="entorno-titulo"/>
          <p:cNvSpPr txBox="1"/>
          <p:nvPr/>
        </p:nvSpPr>
        <p:spPr>
          <a:xfrm>
            <a:off x="640080" y="3886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Entorno de laboratorio</a:t>
            </a:r>
            <a:endParaRPr lang="en-US" sz="2000" dirty="0"/>
          </a:p>
        </p:txBody>
      </p:sp>
      <p:sp>
        <p:nvSpPr>
          <p:cNvPr id="23" name="ent0-tarjeta"/>
          <p:cNvSpPr/>
          <p:nvPr/>
        </p:nvSpPr>
        <p:spPr>
          <a:xfrm>
            <a:off x="640080" y="443484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ent0-circulo"/>
          <p:cNvSpPr/>
          <p:nvPr/>
        </p:nvSpPr>
        <p:spPr>
          <a:xfrm>
            <a:off x="868680" y="4709160"/>
            <a:ext cx="640080" cy="640080"/>
          </a:xfrm>
          <a:prstGeom prst="ellipse">
            <a:avLst/>
          </a:prstGeom>
          <a:solidFill>
            <a:srgbClr val="012456"/>
          </a:solidFill>
          <a:ln w="12700">
            <a:solidFill>
              <a:srgbClr val="012456"/>
            </a:solidFill>
            <a:prstDash val="solid"/>
          </a:ln>
        </p:spPr>
      </p:sp>
      <p:pic>
        <p:nvPicPr>
          <p:cNvPr id="25" name="ent0-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69180"/>
            <a:ext cx="320040" cy="320040"/>
          </a:xfrm>
          <a:prstGeom prst="rect">
            <a:avLst/>
          </a:prstGeom>
        </p:spPr>
      </p:pic>
      <p:sp>
        <p:nvSpPr>
          <p:cNvPr id="26" name="ent0-titulo"/>
          <p:cNvSpPr txBox="1"/>
          <p:nvPr/>
        </p:nvSpPr>
        <p:spPr>
          <a:xfrm>
            <a:off x="164592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Windows 11 LTSC</a:t>
            </a:r>
            <a:endParaRPr lang="en-US" sz="1600" dirty="0"/>
          </a:p>
        </p:txBody>
      </p:sp>
      <p:sp>
        <p:nvSpPr>
          <p:cNvPr id="27" name="ent0-texto"/>
          <p:cNvSpPr txBox="1"/>
          <p:nvPr/>
        </p:nvSpPr>
        <p:spPr>
          <a:xfrm>
            <a:off x="164592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Compilación 26100</a:t>
            </a:r>
            <a:endParaRPr lang="en-US" sz="1300" dirty="0"/>
          </a:p>
        </p:txBody>
      </p:sp>
      <p:sp>
        <p:nvSpPr>
          <p:cNvPr id="28" name="ent1-tarjeta"/>
          <p:cNvSpPr/>
          <p:nvPr/>
        </p:nvSpPr>
        <p:spPr>
          <a:xfrm>
            <a:off x="3429000" y="443484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ent1-circulo"/>
          <p:cNvSpPr/>
          <p:nvPr/>
        </p:nvSpPr>
        <p:spPr>
          <a:xfrm>
            <a:off x="3657600" y="4709160"/>
            <a:ext cx="640080" cy="640080"/>
          </a:xfrm>
          <a:prstGeom prst="ellipse">
            <a:avLst/>
          </a:prstGeom>
          <a:solidFill>
            <a:srgbClr val="012456"/>
          </a:solidFill>
          <a:ln w="12700">
            <a:solidFill>
              <a:srgbClr val="012456"/>
            </a:solidFill>
            <a:prstDash val="solid"/>
          </a:ln>
        </p:spPr>
      </p:sp>
      <p:pic>
        <p:nvPicPr>
          <p:cNvPr id="30" name="ent1-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620" y="4869180"/>
            <a:ext cx="320040" cy="320040"/>
          </a:xfrm>
          <a:prstGeom prst="rect">
            <a:avLst/>
          </a:prstGeom>
        </p:spPr>
      </p:pic>
      <p:sp>
        <p:nvSpPr>
          <p:cNvPr id="31" name="ent1-titulo"/>
          <p:cNvSpPr txBox="1"/>
          <p:nvPr/>
        </p:nvSpPr>
        <p:spPr>
          <a:xfrm>
            <a:off x="443484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PowerShell 5.1</a:t>
            </a:r>
            <a:endParaRPr lang="en-US" sz="1600" dirty="0"/>
          </a:p>
        </p:txBody>
      </p:sp>
      <p:sp>
        <p:nvSpPr>
          <p:cNvPr id="32" name="ent1-texto"/>
          <p:cNvSpPr txBox="1"/>
          <p:nvPr/>
        </p:nvSpPr>
        <p:spPr>
          <a:xfrm>
            <a:off x="443484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Scripts propios</a:t>
            </a:r>
            <a:endParaRPr lang="en-US" sz="1300" dirty="0"/>
          </a:p>
        </p:txBody>
      </p:sp>
      <p:sp>
        <p:nvSpPr>
          <p:cNvPr id="33" name="ent2-tarjeta"/>
          <p:cNvSpPr/>
          <p:nvPr/>
        </p:nvSpPr>
        <p:spPr>
          <a:xfrm>
            <a:off x="6217920" y="443484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ent2-circulo"/>
          <p:cNvSpPr/>
          <p:nvPr/>
        </p:nvSpPr>
        <p:spPr>
          <a:xfrm>
            <a:off x="6446520" y="4709160"/>
            <a:ext cx="640080" cy="640080"/>
          </a:xfrm>
          <a:prstGeom prst="ellipse">
            <a:avLst/>
          </a:prstGeom>
          <a:solidFill>
            <a:srgbClr val="012456"/>
          </a:solidFill>
          <a:ln w="12700">
            <a:solidFill>
              <a:srgbClr val="012456"/>
            </a:solidFill>
            <a:prstDash val="solid"/>
          </a:ln>
        </p:spPr>
      </p:sp>
      <p:pic>
        <p:nvPicPr>
          <p:cNvPr id="35" name="ent2-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4869180"/>
            <a:ext cx="320040" cy="320040"/>
          </a:xfrm>
          <a:prstGeom prst="rect">
            <a:avLst/>
          </a:prstGeom>
        </p:spPr>
      </p:pic>
      <p:sp>
        <p:nvSpPr>
          <p:cNvPr id="36" name="ent2-titulo"/>
          <p:cNvSpPr txBox="1"/>
          <p:nvPr/>
        </p:nvSpPr>
        <p:spPr>
          <a:xfrm>
            <a:off x="722376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VM propia</a:t>
            </a:r>
            <a:endParaRPr lang="en-US" sz="1600" dirty="0"/>
          </a:p>
        </p:txBody>
      </p:sp>
      <p:sp>
        <p:nvSpPr>
          <p:cNvPr id="37" name="ent2-texto"/>
          <p:cNvSpPr txBox="1"/>
          <p:nvPr/>
        </p:nvSpPr>
        <p:spPr>
          <a:xfrm>
            <a:off x="722376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Aislada, sin dominio</a:t>
            </a:r>
            <a:endParaRPr lang="en-US" sz="1300" dirty="0"/>
          </a:p>
        </p:txBody>
      </p:sp>
      <p:sp>
        <p:nvSpPr>
          <p:cNvPr id="38" name="ent3-tarjeta"/>
          <p:cNvSpPr/>
          <p:nvPr/>
        </p:nvSpPr>
        <p:spPr>
          <a:xfrm>
            <a:off x="9006840" y="4434840"/>
            <a:ext cx="25603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ent3-circulo"/>
          <p:cNvSpPr/>
          <p:nvPr/>
        </p:nvSpPr>
        <p:spPr>
          <a:xfrm>
            <a:off x="9235440" y="4709160"/>
            <a:ext cx="640080" cy="640080"/>
          </a:xfrm>
          <a:prstGeom prst="ellipse">
            <a:avLst/>
          </a:prstGeom>
          <a:solidFill>
            <a:srgbClr val="012456"/>
          </a:solidFill>
          <a:ln w="12700">
            <a:solidFill>
              <a:srgbClr val="012456"/>
            </a:solidFill>
            <a:prstDash val="solid"/>
          </a:ln>
        </p:spPr>
      </p:sp>
      <p:pic>
        <p:nvPicPr>
          <p:cNvPr id="40" name="ent3-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460" y="4869180"/>
            <a:ext cx="320040" cy="320040"/>
          </a:xfrm>
          <a:prstGeom prst="rect">
            <a:avLst/>
          </a:prstGeom>
        </p:spPr>
      </p:pic>
      <p:sp>
        <p:nvSpPr>
          <p:cNvPr id="41" name="ent3-titulo"/>
          <p:cNvSpPr txBox="1"/>
          <p:nvPr/>
        </p:nvSpPr>
        <p:spPr>
          <a:xfrm>
            <a:off x="10012680" y="4663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Bloqueo a los 10</a:t>
            </a:r>
            <a:endParaRPr lang="en-US" sz="1600" dirty="0"/>
          </a:p>
        </p:txBody>
      </p:sp>
      <p:sp>
        <p:nvSpPr>
          <p:cNvPr id="42" name="ent3-texto"/>
          <p:cNvSpPr txBox="1"/>
          <p:nvPr/>
        </p:nvSpPr>
        <p:spPr>
          <a:xfrm>
            <a:off x="1001268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Valor por defecto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Cómo funciona: script → JSON → app web</a:t>
            </a:r>
            <a:endParaRPr lang="en-US" sz="3400" dirty="0"/>
          </a:p>
        </p:txBody>
      </p:sp>
      <p:pic>
        <p:nvPicPr>
          <p:cNvPr id="3" name="diagrama-arquitectura" descr="diagrama-arquitect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10926"/>
            <a:ext cx="10881360" cy="3378949"/>
          </a:xfrm>
          <a:prstGeom prst="rect">
            <a:avLst/>
          </a:prstGeom>
        </p:spPr>
      </p:pic>
      <p:sp>
        <p:nvSpPr>
          <p:cNvPr id="4" name="pie-arquitectura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Configurar-Auditoria.ps1</a:t>
            </a:r>
            <a:r>
              <a:rPr lang="en-US" sz="1500" dirty="0">
                <a:solidFill>
                  <a:schemeClr val="tx1"/>
                </a:solidFill>
              </a:rPr>
              <a:t> activa y revierte    ·    </a:t>
            </a: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Recolectar-Eventos.ps1</a:t>
            </a:r>
            <a:r>
              <a:rPr lang="en-US" sz="1500" dirty="0">
                <a:solidFill>
                  <a:schemeClr val="tx1"/>
                </a:solidFill>
              </a:rPr>
              <a:t> solo lee y exporta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Demo en vivo</a:t>
            </a:r>
            <a:endParaRPr lang="en-US" sz="3600" dirty="0"/>
          </a:p>
        </p:txBody>
      </p:sp>
      <p:sp>
        <p:nvSpPr>
          <p:cNvPr id="3" name="consola-demo-marco"/>
          <p:cNvSpPr/>
          <p:nvPr/>
        </p:nvSpPr>
        <p:spPr>
          <a:xfrm>
            <a:off x="640080" y="1554480"/>
            <a:ext cx="7315200" cy="4297680"/>
          </a:xfrm>
          <a:prstGeom prst="roundRect">
            <a:avLst>
              <a:gd name="adj" fmla="val 170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consola-demo-punto0"/>
          <p:cNvSpPr/>
          <p:nvPr/>
        </p:nvSpPr>
        <p:spPr>
          <a:xfrm>
            <a:off x="804672" y="1655064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nsola-demo-punto1"/>
          <p:cNvSpPr/>
          <p:nvPr/>
        </p:nvSpPr>
        <p:spPr>
          <a:xfrm>
            <a:off x="1005840" y="1655064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onsola-demo-punto2"/>
          <p:cNvSpPr/>
          <p:nvPr/>
        </p:nvSpPr>
        <p:spPr>
          <a:xfrm>
            <a:off x="1207008" y="1655064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onsola-demo-titulo"/>
          <p:cNvSpPr txBox="1"/>
          <p:nvPr/>
        </p:nvSpPr>
        <p:spPr>
          <a:xfrm>
            <a:off x="1463040" y="15727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Administrador: Windows PowerShell</a:t>
            </a:r>
            <a:endParaRPr lang="en-US" sz="1100" dirty="0"/>
          </a:p>
        </p:txBody>
      </p:sp>
      <p:sp>
        <p:nvSpPr>
          <p:cNvPr id="8" name="consola-demo-texto"/>
          <p:cNvSpPr txBox="1"/>
          <p:nvPr/>
        </p:nvSpPr>
        <p:spPr>
          <a:xfrm>
            <a:off x="932688" y="1993392"/>
            <a:ext cx="672998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.\Configurar-Auditoria.ps1 -Accion Estado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F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qué se ve hoy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runas /user:prueba_isw612 cmd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F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contraseña incorrecta (×12)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.\Recolectar-Eventos.ps1 -Horas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F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exporta el JSON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web\index.html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F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cargar el JSON y ver la alerta</a:t>
            </a:r>
            <a:endParaRPr lang="en-US" sz="1600" dirty="0"/>
          </a:p>
        </p:txBody>
      </p:sp>
      <p:sp>
        <p:nvSpPr>
          <p:cNvPr id="9" name="demo-circulo"/>
          <p:cNvSpPr/>
          <p:nvPr/>
        </p:nvSpPr>
        <p:spPr>
          <a:xfrm>
            <a:off x="8778240" y="1920240"/>
            <a:ext cx="1463040" cy="1463040"/>
          </a:xfrm>
          <a:prstGeom prst="ellipse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pic>
        <p:nvPicPr>
          <p:cNvPr id="10" name="demo-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286000"/>
            <a:ext cx="731520" cy="731520"/>
          </a:xfrm>
          <a:prstGeom prst="rect">
            <a:avLst/>
          </a:prstGeom>
        </p:spPr>
      </p:pic>
      <p:sp>
        <p:nvSpPr>
          <p:cNvPr id="11" name="demo-sub"/>
          <p:cNvSpPr txBox="1"/>
          <p:nvPr/>
        </p:nvSpPr>
        <p:spPr>
          <a:xfrm>
            <a:off x="841248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Lo que vamos a mostrar</a:t>
            </a:r>
            <a:endParaRPr lang="en-US" sz="1800" dirty="0"/>
          </a:p>
        </p:txBody>
      </p:sp>
      <p:sp>
        <p:nvSpPr>
          <p:cNvPr id="12" name="demo-lista"/>
          <p:cNvSpPr txBox="1"/>
          <p:nvPr/>
        </p:nvSpPr>
        <p:spPr>
          <a:xfrm>
            <a:off x="8412480" y="40690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 auditoría cambia lo que se registra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 regla detecta la fuerza bruta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Todo funciona sin internet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Por defecto, 4 de 7 visibilidades están apagadas</a:t>
            </a:r>
            <a:endParaRPr lang="en-US" sz="3400" dirty="0"/>
          </a:p>
        </p:txBody>
      </p:sp>
      <p:sp>
        <p:nvSpPr>
          <p:cNvPr id="3" name="col-evento"/>
          <p:cNvSpPr txBox="1"/>
          <p:nvPr/>
        </p:nvSpPr>
        <p:spPr>
          <a:xfrm>
            <a:off x="64008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Evento</a:t>
            </a:r>
            <a:endParaRPr lang="en-US" sz="1400" dirty="0"/>
          </a:p>
        </p:txBody>
      </p:sp>
      <p:sp>
        <p:nvSpPr>
          <p:cNvPr id="4" name="col-defecto"/>
          <p:cNvSpPr txBox="1"/>
          <p:nvPr/>
        </p:nvSpPr>
        <p:spPr>
          <a:xfrm>
            <a:off x="51206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Por defecto</a:t>
            </a:r>
            <a:endParaRPr lang="en-US" sz="1400" dirty="0"/>
          </a:p>
        </p:txBody>
      </p:sp>
      <p:sp>
        <p:nvSpPr>
          <p:cNvPr id="5" name="col-auditoria"/>
          <p:cNvSpPr txBox="1"/>
          <p:nvPr/>
        </p:nvSpPr>
        <p:spPr>
          <a:xfrm>
            <a:off x="67665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Con auditoría</a:t>
            </a:r>
            <a:endParaRPr lang="en-US" sz="1400" dirty="0"/>
          </a:p>
        </p:txBody>
      </p:sp>
      <p:sp>
        <p:nvSpPr>
          <p:cNvPr id="6" name="fila0"/>
          <p:cNvSpPr/>
          <p:nvPr/>
        </p:nvSpPr>
        <p:spPr>
          <a:xfrm>
            <a:off x="640080" y="1828800"/>
            <a:ext cx="75895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ila0-id"/>
          <p:cNvSpPr txBox="1"/>
          <p:nvPr/>
        </p:nvSpPr>
        <p:spPr>
          <a:xfrm>
            <a:off x="777240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4624</a:t>
            </a:r>
            <a:endParaRPr lang="en-US" sz="1500" dirty="0"/>
          </a:p>
        </p:txBody>
      </p:sp>
      <p:sp>
        <p:nvSpPr>
          <p:cNvPr id="8" name="fila0-desc"/>
          <p:cNvSpPr txBox="1"/>
          <p:nvPr/>
        </p:nvSpPr>
        <p:spPr>
          <a:xfrm>
            <a:off x="173736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Inicio de sesión exitoso</a:t>
            </a:r>
            <a:endParaRPr lang="en-US" sz="1500" dirty="0"/>
          </a:p>
        </p:txBody>
      </p:sp>
      <p:sp>
        <p:nvSpPr>
          <p:cNvPr id="9" name="fila0-chip0"/>
          <p:cNvSpPr/>
          <p:nvPr/>
        </p:nvSpPr>
        <p:spPr>
          <a:xfrm>
            <a:off x="5257800" y="191109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0" name="fila0-chip0-texto"/>
          <p:cNvSpPr txBox="1"/>
          <p:nvPr/>
        </p:nvSpPr>
        <p:spPr>
          <a:xfrm>
            <a:off x="5257800" y="19110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11" name="fila0-chip1"/>
          <p:cNvSpPr/>
          <p:nvPr/>
        </p:nvSpPr>
        <p:spPr>
          <a:xfrm>
            <a:off x="6903720" y="191109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2" name="fila0-chip1-texto"/>
          <p:cNvSpPr txBox="1"/>
          <p:nvPr/>
        </p:nvSpPr>
        <p:spPr>
          <a:xfrm>
            <a:off x="6903720" y="19110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13" name="fila1"/>
          <p:cNvSpPr/>
          <p:nvPr/>
        </p:nvSpPr>
        <p:spPr>
          <a:xfrm>
            <a:off x="640080" y="2423160"/>
            <a:ext cx="75895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ila1-id"/>
          <p:cNvSpPr txBox="1"/>
          <p:nvPr/>
        </p:nvSpPr>
        <p:spPr>
          <a:xfrm>
            <a:off x="777240" y="2423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4625</a:t>
            </a:r>
            <a:endParaRPr lang="en-US" sz="1500" dirty="0"/>
          </a:p>
        </p:txBody>
      </p:sp>
      <p:sp>
        <p:nvSpPr>
          <p:cNvPr id="15" name="fila1-desc"/>
          <p:cNvSpPr txBox="1"/>
          <p:nvPr/>
        </p:nvSpPr>
        <p:spPr>
          <a:xfrm>
            <a:off x="173736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Inicio de sesión fallido</a:t>
            </a:r>
            <a:endParaRPr lang="en-US" sz="1500" dirty="0"/>
          </a:p>
        </p:txBody>
      </p:sp>
      <p:sp>
        <p:nvSpPr>
          <p:cNvPr id="16" name="fila1-chip0"/>
          <p:cNvSpPr/>
          <p:nvPr/>
        </p:nvSpPr>
        <p:spPr>
          <a:xfrm>
            <a:off x="5257800" y="250545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7" name="fila1-chip0-texto"/>
          <p:cNvSpPr txBox="1"/>
          <p:nvPr/>
        </p:nvSpPr>
        <p:spPr>
          <a:xfrm>
            <a:off x="5257800" y="250545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18" name="fila1-chip1"/>
          <p:cNvSpPr/>
          <p:nvPr/>
        </p:nvSpPr>
        <p:spPr>
          <a:xfrm>
            <a:off x="6903720" y="250545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9" name="fila1-chip1-texto"/>
          <p:cNvSpPr txBox="1"/>
          <p:nvPr/>
        </p:nvSpPr>
        <p:spPr>
          <a:xfrm>
            <a:off x="6903720" y="250545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20" name="fila2"/>
          <p:cNvSpPr/>
          <p:nvPr/>
        </p:nvSpPr>
        <p:spPr>
          <a:xfrm>
            <a:off x="640080" y="3017520"/>
            <a:ext cx="75895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fila2-id"/>
          <p:cNvSpPr txBox="1"/>
          <p:nvPr/>
        </p:nvSpPr>
        <p:spPr>
          <a:xfrm>
            <a:off x="777240" y="3017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4740</a:t>
            </a:r>
            <a:endParaRPr lang="en-US" sz="1500" dirty="0"/>
          </a:p>
        </p:txBody>
      </p:sp>
      <p:sp>
        <p:nvSpPr>
          <p:cNvPr id="22" name="fila2-desc"/>
          <p:cNvSpPr txBox="1"/>
          <p:nvPr/>
        </p:nvSpPr>
        <p:spPr>
          <a:xfrm>
            <a:off x="173736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Cuenta bloqueada</a:t>
            </a:r>
            <a:endParaRPr lang="en-US" sz="1500" dirty="0"/>
          </a:p>
        </p:txBody>
      </p:sp>
      <p:sp>
        <p:nvSpPr>
          <p:cNvPr id="23" name="fila2-chip0"/>
          <p:cNvSpPr/>
          <p:nvPr/>
        </p:nvSpPr>
        <p:spPr>
          <a:xfrm>
            <a:off x="5257800" y="309981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24" name="fila2-chip0-texto"/>
          <p:cNvSpPr txBox="1"/>
          <p:nvPr/>
        </p:nvSpPr>
        <p:spPr>
          <a:xfrm>
            <a:off x="5257800" y="309981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25" name="fila2-chip1"/>
          <p:cNvSpPr/>
          <p:nvPr/>
        </p:nvSpPr>
        <p:spPr>
          <a:xfrm>
            <a:off x="6903720" y="309981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26" name="fila2-chip1-texto"/>
          <p:cNvSpPr txBox="1"/>
          <p:nvPr/>
        </p:nvSpPr>
        <p:spPr>
          <a:xfrm>
            <a:off x="6903720" y="309981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27" name="fila3"/>
          <p:cNvSpPr/>
          <p:nvPr/>
        </p:nvSpPr>
        <p:spPr>
          <a:xfrm>
            <a:off x="640080" y="3611880"/>
            <a:ext cx="75895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fila3-id"/>
          <p:cNvSpPr txBox="1"/>
          <p:nvPr/>
        </p:nvSpPr>
        <p:spPr>
          <a:xfrm>
            <a:off x="777240" y="3611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4625</a:t>
            </a:r>
            <a:endParaRPr lang="en-US" sz="1500" dirty="0"/>
          </a:p>
        </p:txBody>
      </p:sp>
      <p:sp>
        <p:nvSpPr>
          <p:cNvPr id="29" name="fila3-desc"/>
          <p:cNvSpPr txBox="1"/>
          <p:nvPr/>
        </p:nvSpPr>
        <p:spPr>
          <a:xfrm>
            <a:off x="1737360" y="3611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Intentos con la cuenta ya bloqueada</a:t>
            </a:r>
            <a:endParaRPr lang="en-US" sz="1500" dirty="0"/>
          </a:p>
        </p:txBody>
      </p:sp>
      <p:sp>
        <p:nvSpPr>
          <p:cNvPr id="30" name="fila3-chip0"/>
          <p:cNvSpPr/>
          <p:nvPr/>
        </p:nvSpPr>
        <p:spPr>
          <a:xfrm>
            <a:off x="5257800" y="369417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fila3-chip0-texto"/>
          <p:cNvSpPr txBox="1"/>
          <p:nvPr/>
        </p:nvSpPr>
        <p:spPr>
          <a:xfrm>
            <a:off x="5257800" y="36941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</a:t>
            </a:r>
            <a:endParaRPr lang="en-US" sz="1400" dirty="0"/>
          </a:p>
        </p:txBody>
      </p:sp>
      <p:sp>
        <p:nvSpPr>
          <p:cNvPr id="32" name="fila3-chip1"/>
          <p:cNvSpPr/>
          <p:nvPr/>
        </p:nvSpPr>
        <p:spPr>
          <a:xfrm>
            <a:off x="6903720" y="369417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33" name="fila3-chip1-texto"/>
          <p:cNvSpPr txBox="1"/>
          <p:nvPr/>
        </p:nvSpPr>
        <p:spPr>
          <a:xfrm>
            <a:off x="6903720" y="369417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34" name="fila4"/>
          <p:cNvSpPr/>
          <p:nvPr/>
        </p:nvSpPr>
        <p:spPr>
          <a:xfrm>
            <a:off x="640080" y="4206240"/>
            <a:ext cx="75895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fila4-id"/>
          <p:cNvSpPr txBox="1"/>
          <p:nvPr/>
        </p:nvSpPr>
        <p:spPr>
          <a:xfrm>
            <a:off x="777240" y="4206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4688</a:t>
            </a:r>
            <a:endParaRPr lang="en-US" sz="1500" dirty="0"/>
          </a:p>
        </p:txBody>
      </p:sp>
      <p:sp>
        <p:nvSpPr>
          <p:cNvPr id="36" name="fila4-desc"/>
          <p:cNvSpPr txBox="1"/>
          <p:nvPr/>
        </p:nvSpPr>
        <p:spPr>
          <a:xfrm>
            <a:off x="1737360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Programas ejecutados</a:t>
            </a:r>
            <a:endParaRPr lang="en-US" sz="1500" dirty="0"/>
          </a:p>
        </p:txBody>
      </p:sp>
      <p:sp>
        <p:nvSpPr>
          <p:cNvPr id="37" name="fila4-chip0"/>
          <p:cNvSpPr/>
          <p:nvPr/>
        </p:nvSpPr>
        <p:spPr>
          <a:xfrm>
            <a:off x="5257800" y="428853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8" name="fila4-chip0-texto"/>
          <p:cNvSpPr txBox="1"/>
          <p:nvPr/>
        </p:nvSpPr>
        <p:spPr>
          <a:xfrm>
            <a:off x="5257800" y="428853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</a:t>
            </a:r>
            <a:endParaRPr lang="en-US" sz="1400" dirty="0"/>
          </a:p>
        </p:txBody>
      </p:sp>
      <p:sp>
        <p:nvSpPr>
          <p:cNvPr id="39" name="fila4-chip1"/>
          <p:cNvSpPr/>
          <p:nvPr/>
        </p:nvSpPr>
        <p:spPr>
          <a:xfrm>
            <a:off x="6903720" y="428853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40" name="fila4-chip1-texto"/>
          <p:cNvSpPr txBox="1"/>
          <p:nvPr/>
        </p:nvSpPr>
        <p:spPr>
          <a:xfrm>
            <a:off x="6903720" y="428853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41" name="fila5"/>
          <p:cNvSpPr/>
          <p:nvPr/>
        </p:nvSpPr>
        <p:spPr>
          <a:xfrm>
            <a:off x="640080" y="4800600"/>
            <a:ext cx="758952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fila5-id"/>
          <p:cNvSpPr txBox="1"/>
          <p:nvPr/>
        </p:nvSpPr>
        <p:spPr>
          <a:xfrm>
            <a:off x="777240" y="4800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4688</a:t>
            </a:r>
            <a:endParaRPr lang="en-US" sz="1500" dirty="0"/>
          </a:p>
        </p:txBody>
      </p:sp>
      <p:sp>
        <p:nvSpPr>
          <p:cNvPr id="43" name="fila5-desc"/>
          <p:cNvSpPr txBox="1"/>
          <p:nvPr/>
        </p:nvSpPr>
        <p:spPr>
          <a:xfrm>
            <a:off x="1737360" y="48006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Línea de comandos</a:t>
            </a:r>
            <a:endParaRPr lang="en-US" sz="1500" dirty="0"/>
          </a:p>
        </p:txBody>
      </p:sp>
      <p:sp>
        <p:nvSpPr>
          <p:cNvPr id="44" name="fila5-chip0"/>
          <p:cNvSpPr/>
          <p:nvPr/>
        </p:nvSpPr>
        <p:spPr>
          <a:xfrm>
            <a:off x="5257800" y="488289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5" name="fila5-chip0-texto"/>
          <p:cNvSpPr txBox="1"/>
          <p:nvPr/>
        </p:nvSpPr>
        <p:spPr>
          <a:xfrm>
            <a:off x="5257800" y="48828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</a:t>
            </a:r>
            <a:endParaRPr lang="en-US" sz="1400" dirty="0"/>
          </a:p>
        </p:txBody>
      </p:sp>
      <p:sp>
        <p:nvSpPr>
          <p:cNvPr id="46" name="fila5-chip1"/>
          <p:cNvSpPr/>
          <p:nvPr/>
        </p:nvSpPr>
        <p:spPr>
          <a:xfrm>
            <a:off x="6903720" y="488289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47" name="fila5-chip1-texto"/>
          <p:cNvSpPr txBox="1"/>
          <p:nvPr/>
        </p:nvSpPr>
        <p:spPr>
          <a:xfrm>
            <a:off x="6903720" y="48828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48" name="fila6"/>
          <p:cNvSpPr/>
          <p:nvPr/>
        </p:nvSpPr>
        <p:spPr>
          <a:xfrm>
            <a:off x="640080" y="5394960"/>
            <a:ext cx="758952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fila6-id"/>
          <p:cNvSpPr txBox="1"/>
          <p:nvPr/>
        </p:nvSpPr>
        <p:spPr>
          <a:xfrm>
            <a:off x="777240" y="5394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4104</a:t>
            </a:r>
            <a:endParaRPr lang="en-US" sz="1500" dirty="0"/>
          </a:p>
        </p:txBody>
      </p:sp>
      <p:sp>
        <p:nvSpPr>
          <p:cNvPr id="50" name="fila6-desc"/>
          <p:cNvSpPr txBox="1"/>
          <p:nvPr/>
        </p:nvSpPr>
        <p:spPr>
          <a:xfrm>
            <a:off x="1737360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Contenido de los scripts</a:t>
            </a:r>
            <a:endParaRPr lang="en-US" sz="1500" dirty="0"/>
          </a:p>
        </p:txBody>
      </p:sp>
      <p:sp>
        <p:nvSpPr>
          <p:cNvPr id="51" name="fila6-chip0"/>
          <p:cNvSpPr/>
          <p:nvPr/>
        </p:nvSpPr>
        <p:spPr>
          <a:xfrm>
            <a:off x="5257800" y="547725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2" name="fila6-chip0-texto"/>
          <p:cNvSpPr txBox="1"/>
          <p:nvPr/>
        </p:nvSpPr>
        <p:spPr>
          <a:xfrm>
            <a:off x="5257800" y="547725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No</a:t>
            </a:r>
            <a:endParaRPr lang="en-US" sz="1400" dirty="0"/>
          </a:p>
        </p:txBody>
      </p:sp>
      <p:sp>
        <p:nvSpPr>
          <p:cNvPr id="53" name="fila6-chip1"/>
          <p:cNvSpPr/>
          <p:nvPr/>
        </p:nvSpPr>
        <p:spPr>
          <a:xfrm>
            <a:off x="6903720" y="5477256"/>
            <a:ext cx="1188720" cy="338328"/>
          </a:xfrm>
          <a:prstGeom prst="roundRect">
            <a:avLst>
              <a:gd name="adj" fmla="val 48649"/>
            </a:avLst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54" name="fila6-chip1-texto"/>
          <p:cNvSpPr txBox="1"/>
          <p:nvPr/>
        </p:nvSpPr>
        <p:spPr>
          <a:xfrm>
            <a:off x="6903720" y="547725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Sí</a:t>
            </a:r>
            <a:endParaRPr lang="en-US" sz="1400" dirty="0"/>
          </a:p>
        </p:txBody>
      </p:sp>
      <p:sp>
        <p:nvSpPr>
          <p:cNvPr id="55" name="consola-antes-marco"/>
          <p:cNvSpPr/>
          <p:nvPr/>
        </p:nvSpPr>
        <p:spPr>
          <a:xfrm>
            <a:off x="8595360" y="1828800"/>
            <a:ext cx="2971800" cy="201168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consola-antes-punto0"/>
          <p:cNvSpPr/>
          <p:nvPr/>
        </p:nvSpPr>
        <p:spPr>
          <a:xfrm>
            <a:off x="8759952" y="1929384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7" name="consola-antes-punto1"/>
          <p:cNvSpPr/>
          <p:nvPr/>
        </p:nvSpPr>
        <p:spPr>
          <a:xfrm>
            <a:off x="8961120" y="1929384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8" name="consola-antes-punto2"/>
          <p:cNvSpPr/>
          <p:nvPr/>
        </p:nvSpPr>
        <p:spPr>
          <a:xfrm>
            <a:off x="9162288" y="1929384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consola-antes-titulo"/>
          <p:cNvSpPr txBox="1"/>
          <p:nvPr/>
        </p:nvSpPr>
        <p:spPr>
          <a:xfrm>
            <a:off x="9418320" y="18470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defecto</a:t>
            </a:r>
            <a:endParaRPr lang="en-US" sz="1100" dirty="0"/>
          </a:p>
        </p:txBody>
      </p:sp>
      <p:pic>
        <p:nvPicPr>
          <p:cNvPr id="60" name="captura-estado-antes" descr="captura-estado-an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278895"/>
            <a:ext cx="2752344" cy="1349234"/>
          </a:xfrm>
          <a:prstGeom prst="rect">
            <a:avLst/>
          </a:prstGeom>
        </p:spPr>
      </p:pic>
      <p:sp>
        <p:nvSpPr>
          <p:cNvPr id="61" name="consola-despues-marco"/>
          <p:cNvSpPr/>
          <p:nvPr/>
        </p:nvSpPr>
        <p:spPr>
          <a:xfrm>
            <a:off x="8595360" y="4023360"/>
            <a:ext cx="2971800" cy="1920240"/>
          </a:xfrm>
          <a:prstGeom prst="roundRect">
            <a:avLst>
              <a:gd name="adj" fmla="val 381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2" name="consola-despues-punto0"/>
          <p:cNvSpPr/>
          <p:nvPr/>
        </p:nvSpPr>
        <p:spPr>
          <a:xfrm>
            <a:off x="8759952" y="4123944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consola-despues-punto1"/>
          <p:cNvSpPr/>
          <p:nvPr/>
        </p:nvSpPr>
        <p:spPr>
          <a:xfrm>
            <a:off x="8961120" y="4123944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4" name="consola-despues-punto2"/>
          <p:cNvSpPr/>
          <p:nvPr/>
        </p:nvSpPr>
        <p:spPr>
          <a:xfrm>
            <a:off x="9162288" y="4123944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consola-despues-titulo"/>
          <p:cNvSpPr txBox="1"/>
          <p:nvPr/>
        </p:nvSpPr>
        <p:spPr>
          <a:xfrm>
            <a:off x="9418320" y="40416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auditoría</a:t>
            </a:r>
            <a:endParaRPr lang="en-US" sz="1100" dirty="0"/>
          </a:p>
        </p:txBody>
      </p:sp>
      <p:pic>
        <p:nvPicPr>
          <p:cNvPr id="66" name="captura-estado-despues" descr="captura-estado-despu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4381500"/>
            <a:ext cx="2752344" cy="1441704"/>
          </a:xfrm>
          <a:prstGeom prst="rect">
            <a:avLst/>
          </a:prstGeom>
        </p:spPr>
      </p:pic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Por defecto, 6 de 16 intentos fueron invisibles</a:t>
            </a:r>
            <a:endParaRPr lang="en-US" sz="3400" dirty="0"/>
          </a:p>
        </p:txBody>
      </p:sp>
      <p:sp>
        <p:nvSpPr>
          <p:cNvPr id="3" name="stat0-tarjeta"/>
          <p:cNvSpPr/>
          <p:nvPr/>
        </p:nvSpPr>
        <p:spPr>
          <a:xfrm>
            <a:off x="640080" y="1417320"/>
            <a:ext cx="48463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0-titulo"/>
          <p:cNvSpPr txBox="1"/>
          <p:nvPr/>
        </p:nvSpPr>
        <p:spPr>
          <a:xfrm>
            <a:off x="914400" y="1600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484D"/>
                </a:solidFill>
              </a:rPr>
              <a:t>Por defecto</a:t>
            </a:r>
            <a:endParaRPr lang="en-US" sz="1600" dirty="0"/>
          </a:p>
        </p:txBody>
      </p:sp>
      <p:sp>
        <p:nvSpPr>
          <p:cNvPr id="5" name="stat0-cifra"/>
          <p:cNvSpPr txBox="1"/>
          <p:nvPr/>
        </p:nvSpPr>
        <p:spPr>
          <a:xfrm>
            <a:off x="914400" y="1965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5484D"/>
                </a:solidFill>
              </a:rPr>
              <a:t>62,5 %</a:t>
            </a:r>
            <a:r>
              <a:rPr lang="en-US" sz="1800" dirty="0">
                <a:solidFill>
                  <a:srgbClr val="1B1F24"/>
                </a:solidFill>
              </a:rPr>
              <a:t>   10 de 16 intentos</a:t>
            </a:r>
            <a:endParaRPr lang="en-US" sz="5400" dirty="0"/>
          </a:p>
        </p:txBody>
      </p:sp>
      <p:sp>
        <p:nvSpPr>
          <p:cNvPr id="6" name="stat0-texto"/>
          <p:cNvSpPr txBox="1"/>
          <p:nvPr/>
        </p:nvSpPr>
        <p:spPr>
          <a:xfrm>
            <a:off x="914400" y="2834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 intentos después del bloqueo no dejaron ningún 4625</a:t>
            </a:r>
            <a:endParaRPr lang="en-US" sz="1400" dirty="0"/>
          </a:p>
        </p:txBody>
      </p:sp>
      <p:sp>
        <p:nvSpPr>
          <p:cNvPr id="7" name="stat1-tarjeta"/>
          <p:cNvSpPr/>
          <p:nvPr/>
        </p:nvSpPr>
        <p:spPr>
          <a:xfrm>
            <a:off x="640080" y="3703320"/>
            <a:ext cx="48463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1-titulo"/>
          <p:cNvSpPr txBox="1"/>
          <p:nvPr/>
        </p:nvSpPr>
        <p:spPr>
          <a:xfrm>
            <a:off x="91440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A36B"/>
                </a:solidFill>
              </a:rPr>
              <a:t>Con auditoría</a:t>
            </a:r>
            <a:endParaRPr lang="en-US" sz="1600" dirty="0"/>
          </a:p>
        </p:txBody>
      </p:sp>
      <p:sp>
        <p:nvSpPr>
          <p:cNvPr id="9" name="stat1-cifra"/>
          <p:cNvSpPr txBox="1"/>
          <p:nvPr/>
        </p:nvSpPr>
        <p:spPr>
          <a:xfrm>
            <a:off x="914400" y="42519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FA36B"/>
                </a:solidFill>
              </a:rPr>
              <a:t>100 %</a:t>
            </a:r>
            <a:r>
              <a:rPr lang="en-US" sz="1800" dirty="0">
                <a:solidFill>
                  <a:srgbClr val="1B1F24"/>
                </a:solidFill>
              </a:rPr>
              <a:t>   13 de 13 intentos</a:t>
            </a:r>
            <a:endParaRPr lang="en-US" sz="5400" dirty="0"/>
          </a:p>
        </p:txBody>
      </p:sp>
      <p:sp>
        <p:nvSpPr>
          <p:cNvPr id="10" name="stat1-texto"/>
          <p:cNvSpPr txBox="1"/>
          <p:nvPr/>
        </p:nvSpPr>
        <p:spPr>
          <a:xfrm>
            <a:off x="914400" y="51206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 3 intentos después del bloqueo aparecen como “Cuenta bloqueada”</a:t>
            </a:r>
            <a:endParaRPr lang="en-US" sz="1400" dirty="0"/>
          </a:p>
        </p:txBody>
      </p:sp>
      <p:sp>
        <p:nvSpPr>
          <p:cNvPr id="11" name="consola-tabla-marco"/>
          <p:cNvSpPr/>
          <p:nvPr/>
        </p:nvSpPr>
        <p:spPr>
          <a:xfrm>
            <a:off x="5852160" y="1417320"/>
            <a:ext cx="5715000" cy="4343400"/>
          </a:xfrm>
          <a:prstGeom prst="roundRect">
            <a:avLst>
              <a:gd name="adj" fmla="val 168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consola-tabla-punto0"/>
          <p:cNvSpPr/>
          <p:nvPr/>
        </p:nvSpPr>
        <p:spPr>
          <a:xfrm>
            <a:off x="6016752" y="1517904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consola-tabla-punto1"/>
          <p:cNvSpPr/>
          <p:nvPr/>
        </p:nvSpPr>
        <p:spPr>
          <a:xfrm>
            <a:off x="6217920" y="1517904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onsola-tabla-punto2"/>
          <p:cNvSpPr/>
          <p:nvPr/>
        </p:nvSpPr>
        <p:spPr>
          <a:xfrm>
            <a:off x="6419088" y="1517904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consola-tabla-titulo"/>
          <p:cNvSpPr txBox="1"/>
          <p:nvPr/>
        </p:nvSpPr>
        <p:spPr>
          <a:xfrm>
            <a:off x="6675120" y="14356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ejemplo.json · eventos 4625 y 4740</a:t>
            </a:r>
            <a:endParaRPr lang="en-US" sz="1100" dirty="0"/>
          </a:p>
        </p:txBody>
      </p:sp>
      <p:pic>
        <p:nvPicPr>
          <p:cNvPr id="16" name="captura-tabla-4625" descr="captura-tabla-46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342446"/>
            <a:ext cx="5495544" cy="2730891"/>
          </a:xfrm>
          <a:prstGeom prst="rect">
            <a:avLst/>
          </a:prstGeom>
        </p:spPr>
      </p:pic>
      <p:sp>
        <p:nvSpPr>
          <p:cNvPr id="17" name="pie-tabla"/>
          <p:cNvSpPr txBox="1"/>
          <p:nvPr/>
        </p:nvSpPr>
        <p:spPr>
          <a:xfrm>
            <a:off x="5852160" y="585216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Prueba 1 (16:50): nada después del 4740 · Prueba 2 (17:41): tres 4625 después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 regla “5 fallos en 2 minutos” detectó ambas pruebas</a:t>
            </a:r>
            <a:endParaRPr lang="en-US" sz="3400" dirty="0"/>
          </a:p>
        </p:txBody>
      </p:sp>
      <p:sp>
        <p:nvSpPr>
          <p:cNvPr id="3" name="consola-web-marco"/>
          <p:cNvSpPr/>
          <p:nvPr/>
        </p:nvSpPr>
        <p:spPr>
          <a:xfrm>
            <a:off x="640080" y="1417320"/>
            <a:ext cx="6949440" cy="3291840"/>
          </a:xfrm>
          <a:prstGeom prst="roundRect">
            <a:avLst>
              <a:gd name="adj" fmla="val 222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consola-web-punto0"/>
          <p:cNvSpPr/>
          <p:nvPr/>
        </p:nvSpPr>
        <p:spPr>
          <a:xfrm>
            <a:off x="804672" y="1517904"/>
            <a:ext cx="118872" cy="1188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nsola-web-punto1"/>
          <p:cNvSpPr/>
          <p:nvPr/>
        </p:nvSpPr>
        <p:spPr>
          <a:xfrm>
            <a:off x="1005840" y="1517904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onsola-web-punto2"/>
          <p:cNvSpPr/>
          <p:nvPr/>
        </p:nvSpPr>
        <p:spPr>
          <a:xfrm>
            <a:off x="1207008" y="1517904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onsola-web-titulo"/>
          <p:cNvSpPr txBox="1"/>
          <p:nvPr/>
        </p:nvSpPr>
        <p:spPr>
          <a:xfrm>
            <a:off x="1463040" y="14356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web/index.html · Resumen</a:t>
            </a:r>
            <a:endParaRPr lang="en-US" sz="1100" dirty="0"/>
          </a:p>
        </p:txBody>
      </p:sp>
      <p:pic>
        <p:nvPicPr>
          <p:cNvPr id="8" name="captura-app-resumen" descr="captura-app-resum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36115"/>
            <a:ext cx="6729984" cy="2691994"/>
          </a:xfrm>
          <a:prstGeom prst="rect">
            <a:avLst/>
          </a:prstGeom>
        </p:spPr>
      </p:pic>
      <p:sp>
        <p:nvSpPr>
          <p:cNvPr id="9" name="regla0-circulo"/>
          <p:cNvSpPr/>
          <p:nvPr/>
        </p:nvSpPr>
        <p:spPr>
          <a:xfrm>
            <a:off x="7955280" y="1508760"/>
            <a:ext cx="685800" cy="6858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0" name="regla0-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730" y="1680210"/>
            <a:ext cx="342900" cy="342900"/>
          </a:xfrm>
          <a:prstGeom prst="rect">
            <a:avLst/>
          </a:prstGeom>
        </p:spPr>
      </p:pic>
      <p:sp>
        <p:nvSpPr>
          <p:cNvPr id="11" name="regla0-titulo"/>
          <p:cNvSpPr txBox="1"/>
          <p:nvPr/>
        </p:nvSpPr>
        <p:spPr>
          <a:xfrm>
            <a:off x="8778240" y="1417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2 alertas</a:t>
            </a:r>
            <a:endParaRPr lang="en-US" sz="1800" dirty="0"/>
          </a:p>
        </p:txBody>
      </p:sp>
      <p:sp>
        <p:nvSpPr>
          <p:cNvPr id="12" name="regla0-texto"/>
          <p:cNvSpPr txBox="1"/>
          <p:nvPr/>
        </p:nvSpPr>
        <p:spPr>
          <a:xfrm>
            <a:off x="8778240" y="1828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intentos en 1,3 min y 13 intentos en 2,2 min</a:t>
            </a:r>
            <a:endParaRPr lang="en-US" sz="1400" dirty="0"/>
          </a:p>
        </p:txBody>
      </p:sp>
      <p:sp>
        <p:nvSpPr>
          <p:cNvPr id="13" name="regla1-circulo"/>
          <p:cNvSpPr/>
          <p:nvPr/>
        </p:nvSpPr>
        <p:spPr>
          <a:xfrm>
            <a:off x="7955280" y="2651760"/>
            <a:ext cx="685800" cy="6858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4" name="regla1-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730" y="2823210"/>
            <a:ext cx="342900" cy="342900"/>
          </a:xfrm>
          <a:prstGeom prst="rect">
            <a:avLst/>
          </a:prstGeom>
        </p:spPr>
      </p:pic>
      <p:sp>
        <p:nvSpPr>
          <p:cNvPr id="15" name="regla1-titulo"/>
          <p:cNvSpPr txBox="1"/>
          <p:nvPr/>
        </p:nvSpPr>
        <p:spPr>
          <a:xfrm>
            <a:off x="8778240" y="2560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3 intentos tras el bloqueo</a:t>
            </a:r>
            <a:endParaRPr lang="en-US" sz="1800" dirty="0"/>
          </a:p>
        </p:txBody>
      </p:sp>
      <p:sp>
        <p:nvSpPr>
          <p:cNvPr id="16" name="regla1-texto"/>
          <p:cNvSpPr txBox="1"/>
          <p:nvPr/>
        </p:nvSpPr>
        <p:spPr>
          <a:xfrm>
            <a:off x="8778240" y="2971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 app lo marca: el ataque siguió</a:t>
            </a:r>
            <a:endParaRPr lang="en-US" sz="1400" dirty="0"/>
          </a:p>
        </p:txBody>
      </p:sp>
      <p:sp>
        <p:nvSpPr>
          <p:cNvPr id="17" name="regla2-circulo"/>
          <p:cNvSpPr/>
          <p:nvPr/>
        </p:nvSpPr>
        <p:spPr>
          <a:xfrm>
            <a:off x="7955280" y="3794760"/>
            <a:ext cx="685800" cy="685800"/>
          </a:xfrm>
          <a:prstGeom prst="ellipse">
            <a:avLst/>
          </a:prstGeom>
          <a:solidFill>
            <a:srgbClr val="4C8DF6"/>
          </a:solidFill>
          <a:ln w="12700">
            <a:solidFill>
              <a:srgbClr val="4C8DF6"/>
            </a:solidFill>
            <a:prstDash val="solid"/>
          </a:ln>
        </p:spPr>
      </p:sp>
      <p:pic>
        <p:nvPicPr>
          <p:cNvPr id="18" name="regla2-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6730" y="3966210"/>
            <a:ext cx="342900" cy="342900"/>
          </a:xfrm>
          <a:prstGeom prst="rect">
            <a:avLst/>
          </a:prstGeom>
        </p:spPr>
      </p:pic>
      <p:sp>
        <p:nvSpPr>
          <p:cNvPr id="19" name="regla2-titulo"/>
          <p:cNvSpPr txBox="1"/>
          <p:nvPr/>
        </p:nvSpPr>
        <p:spPr>
          <a:xfrm>
            <a:off x="877824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Regla editable</a:t>
            </a:r>
            <a:endParaRPr lang="en-US" sz="1800" dirty="0"/>
          </a:p>
        </p:txBody>
      </p:sp>
      <p:sp>
        <p:nvSpPr>
          <p:cNvPr id="20" name="regla2-texto"/>
          <p:cNvSpPr txBox="1"/>
          <p:nvPr/>
        </p:nvSpPr>
        <p:spPr>
          <a:xfrm>
            <a:off x="877824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Hasta 10 fallos detecta ambas; desde 12, ninguna</a:t>
            </a:r>
            <a:endParaRPr lang="en-US" sz="1400" dirty="0"/>
          </a:p>
        </p:txBody>
      </p:sp>
      <p:sp>
        <p:nvSpPr>
          <p:cNvPr id="21" name="caja-codigo"/>
          <p:cNvSpPr/>
          <p:nvPr/>
        </p:nvSpPr>
        <p:spPr>
          <a:xfrm>
            <a:off x="640080" y="5029200"/>
            <a:ext cx="1092708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odigo-regla"/>
          <p:cNvSpPr txBox="1"/>
          <p:nvPr/>
        </p:nvSpPr>
        <p:spPr>
          <a:xfrm>
            <a:off x="91440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24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(f[i + n - 1].t - f[i].t &lt;= ventana)</a:t>
            </a:r>
            <a:r>
              <a:rPr lang="en-US" sz="1600" dirty="0">
                <a:solidFill>
                  <a:srgbClr val="1B1F24"/>
                </a:solidFill>
              </a:rPr>
              <a:t>   → hay alerta de fuerza bruta (MITRE T1110)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Conclusión: la hipótesis se cumplió</a:t>
            </a:r>
            <a:endParaRPr lang="en-US" sz="3600" dirty="0"/>
          </a:p>
        </p:txBody>
      </p:sp>
      <p:sp>
        <p:nvSpPr>
          <p:cNvPr id="3" name="conc0-circulo"/>
          <p:cNvSpPr/>
          <p:nvPr/>
        </p:nvSpPr>
        <p:spPr>
          <a:xfrm>
            <a:off x="822960" y="1645920"/>
            <a:ext cx="868680" cy="86868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4" name="conc0-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1863090"/>
            <a:ext cx="434340" cy="434340"/>
          </a:xfrm>
          <a:prstGeom prst="rect">
            <a:avLst/>
          </a:prstGeom>
        </p:spPr>
      </p:pic>
      <p:sp>
        <p:nvSpPr>
          <p:cNvPr id="5" name="conc0-titulo"/>
          <p:cNvSpPr txBox="1"/>
          <p:nvPr/>
        </p:nvSpPr>
        <p:spPr>
          <a:xfrm>
            <a:off x="1965960" y="160020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Por defecto solo se ven los inicios de sesión</a:t>
            </a:r>
            <a:endParaRPr lang="en-US" sz="2200" dirty="0"/>
          </a:p>
        </p:txBody>
      </p:sp>
      <p:sp>
        <p:nvSpPr>
          <p:cNvPr id="6" name="conc0-texto"/>
          <p:cNvSpPr txBox="1"/>
          <p:nvPr/>
        </p:nvSpPr>
        <p:spPr>
          <a:xfrm>
            <a:off x="1965960" y="21031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No quedan programas ni scripts: la evidencia del abuso de PowerShell</a:t>
            </a:r>
            <a:endParaRPr lang="en-US" sz="1600" dirty="0"/>
          </a:p>
        </p:txBody>
      </p:sp>
      <p:sp>
        <p:nvSpPr>
          <p:cNvPr id="7" name="conc1-circulo"/>
          <p:cNvSpPr/>
          <p:nvPr/>
        </p:nvSpPr>
        <p:spPr>
          <a:xfrm>
            <a:off x="822960" y="3108960"/>
            <a:ext cx="868680" cy="86868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8" name="conc1-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3326130"/>
            <a:ext cx="434340" cy="434340"/>
          </a:xfrm>
          <a:prstGeom prst="rect">
            <a:avLst/>
          </a:prstGeom>
        </p:spPr>
      </p:pic>
      <p:sp>
        <p:nvSpPr>
          <p:cNvPr id="9" name="conc1-titulo"/>
          <p:cNvSpPr txBox="1"/>
          <p:nvPr/>
        </p:nvSpPr>
        <p:spPr>
          <a:xfrm>
            <a:off x="1965960" y="306324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 auditoría se ven los cuatro eventos</a:t>
            </a:r>
            <a:endParaRPr lang="en-US" sz="2200" dirty="0"/>
          </a:p>
        </p:txBody>
      </p:sp>
      <p:sp>
        <p:nvSpPr>
          <p:cNvPr id="10" name="conc1-texto"/>
          <p:cNvSpPr txBox="1"/>
          <p:nvPr/>
        </p:nvSpPr>
        <p:spPr>
          <a:xfrm>
            <a:off x="1965960" y="35661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Y la regla de 5 fallos en 2 minutos detecta la fuerza bruta</a:t>
            </a:r>
            <a:endParaRPr lang="en-US" sz="1600" dirty="0"/>
          </a:p>
        </p:txBody>
      </p:sp>
      <p:sp>
        <p:nvSpPr>
          <p:cNvPr id="11" name="conc2-circulo"/>
          <p:cNvSpPr/>
          <p:nvPr/>
        </p:nvSpPr>
        <p:spPr>
          <a:xfrm>
            <a:off x="822960" y="4572000"/>
            <a:ext cx="868680" cy="86868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12" name="conc2-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789170"/>
            <a:ext cx="434340" cy="434340"/>
          </a:xfrm>
          <a:prstGeom prst="rect">
            <a:avLst/>
          </a:prstGeom>
        </p:spPr>
      </p:pic>
      <p:sp>
        <p:nvSpPr>
          <p:cNvPr id="13" name="conc2-titulo"/>
          <p:cNvSpPr txBox="1"/>
          <p:nvPr/>
        </p:nvSpPr>
        <p:spPr>
          <a:xfrm>
            <a:off x="1965960" y="45262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Hallazgo extra: un punto ciego en el 4625</a:t>
            </a:r>
            <a:endParaRPr lang="en-US" sz="2200" dirty="0"/>
          </a:p>
        </p:txBody>
      </p:sp>
      <p:sp>
        <p:nvSpPr>
          <p:cNvPr id="14" name="conc2-texto"/>
          <p:cNvSpPr txBox="1"/>
          <p:nvPr/>
        </p:nvSpPr>
        <p:spPr>
          <a:xfrm>
            <a:off x="1965960" y="50292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Sin Account Lockout, los intentos tras el bloqueo no se registran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Lo que aprendimos usando IA</a:t>
            </a:r>
            <a:endParaRPr lang="en-US" sz="3400" dirty="0"/>
          </a:p>
        </p:txBody>
      </p:sp>
      <p:sp>
        <p:nvSpPr>
          <p:cNvPr id="3" name="ia0-tarjeta"/>
          <p:cNvSpPr/>
          <p:nvPr/>
        </p:nvSpPr>
        <p:spPr>
          <a:xfrm>
            <a:off x="64008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a0-circulo"/>
          <p:cNvSpPr/>
          <p:nvPr/>
        </p:nvSpPr>
        <p:spPr>
          <a:xfrm>
            <a:off x="960120" y="1691640"/>
            <a:ext cx="685800" cy="685800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pic>
        <p:nvPicPr>
          <p:cNvPr id="5" name="ia0-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1863090"/>
            <a:ext cx="342900" cy="342900"/>
          </a:xfrm>
          <a:prstGeom prst="rect">
            <a:avLst/>
          </a:prstGeom>
        </p:spPr>
      </p:pic>
      <p:sp>
        <p:nvSpPr>
          <p:cNvPr id="6" name="ia0-titulo"/>
          <p:cNvSpPr txBox="1"/>
          <p:nvPr/>
        </p:nvSpPr>
        <p:spPr>
          <a:xfrm>
            <a:off x="182880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Qué ayudó</a:t>
            </a:r>
            <a:endParaRPr lang="en-US" sz="2200" dirty="0"/>
          </a:p>
        </p:txBody>
      </p:sp>
      <p:sp>
        <p:nvSpPr>
          <p:cNvPr id="7" name="ia0-lista"/>
          <p:cNvSpPr txBox="1"/>
          <p:nvPr/>
        </p:nvSpPr>
        <p:spPr>
          <a:xfrm>
            <a:off x="1005840" y="2606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Armar rápido los scripts y la app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Encontrar la causa del punto ciego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Revisar el JSON antes de publicarlo</a:t>
            </a:r>
            <a:endParaRPr lang="en-US" sz="1800" dirty="0"/>
          </a:p>
        </p:txBody>
      </p:sp>
      <p:sp>
        <p:nvSpPr>
          <p:cNvPr id="8" name="ia1-tarjeta"/>
          <p:cNvSpPr/>
          <p:nvPr/>
        </p:nvSpPr>
        <p:spPr>
          <a:xfrm>
            <a:off x="6217920" y="1417320"/>
            <a:ext cx="534924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a1-circulo"/>
          <p:cNvSpPr/>
          <p:nvPr/>
        </p:nvSpPr>
        <p:spPr>
          <a:xfrm>
            <a:off x="6537960" y="1691640"/>
            <a:ext cx="685800" cy="6858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0" name="ia1-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1863090"/>
            <a:ext cx="342900" cy="342900"/>
          </a:xfrm>
          <a:prstGeom prst="rect">
            <a:avLst/>
          </a:prstGeom>
        </p:spPr>
      </p:pic>
      <p:sp>
        <p:nvSpPr>
          <p:cNvPr id="11" name="ia1-titulo"/>
          <p:cNvSpPr txBox="1"/>
          <p:nvPr/>
        </p:nvSpPr>
        <p:spPr>
          <a:xfrm>
            <a:off x="740664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Qué hubo que corregir</a:t>
            </a:r>
            <a:endParaRPr lang="en-US" sz="2200" dirty="0"/>
          </a:p>
        </p:txBody>
      </p:sp>
      <p:sp>
        <p:nvSpPr>
          <p:cNvPr id="12" name="ia1-lista"/>
          <p:cNvSpPr txBox="1"/>
          <p:nvPr/>
        </p:nvSpPr>
        <p:spPr>
          <a:xfrm>
            <a:off x="6583680" y="2606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error con arreglos vacíos (.Count)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Una guía que no servía en Windows 11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Faltaba auditar Account Lockout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falso positivo al ocultar contraseñas</a:t>
            </a:r>
            <a:endParaRPr lang="en-US" sz="1800" dirty="0"/>
          </a:p>
        </p:txBody>
      </p:sp>
      <p:sp>
        <p:nvSpPr>
          <p:cNvPr id="13" name="ia-leccion"/>
          <p:cNvSpPr txBox="1"/>
          <p:nvPr/>
        </p:nvSpPr>
        <p:spPr>
          <a:xfrm>
            <a:off x="640080" y="50749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tx2"/>
                </a:solidFill>
              </a:rPr>
              <a:t>Regla que nos quedó: todo lo que propone la IA se prueba en la VM antes de darlo por bueno.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guntas"/>
          <p:cNvSpPr txBox="1"/>
          <p:nvPr/>
        </p:nvSpPr>
        <p:spPr>
          <a:xfrm>
            <a:off x="387531" y="201168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 err="1">
                <a:solidFill>
                  <a:schemeClr val="bg1"/>
                </a:solidFill>
              </a:rPr>
              <a:t>Muchas</a:t>
            </a:r>
            <a:r>
              <a:rPr lang="en-US" sz="5400" b="1">
                <a:solidFill>
                  <a:schemeClr val="bg1"/>
                </a:solidFill>
              </a:rPr>
              <a:t> Gracias!</a:t>
            </a:r>
            <a:endParaRPr lang="en-US" sz="5400" dirty="0"/>
          </a:p>
        </p:txBody>
      </p:sp>
      <p:pic>
        <p:nvPicPr>
          <p:cNvPr id="3" name="icono-github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3703320"/>
            <a:ext cx="457200" cy="457200"/>
          </a:xfrm>
          <a:prstGeom prst="rect">
            <a:avLst/>
          </a:prstGeom>
        </p:spPr>
      </p:pic>
      <p:sp>
        <p:nvSpPr>
          <p:cNvPr id="4" name="repo"/>
          <p:cNvSpPr txBox="1"/>
          <p:nvPr/>
        </p:nvSpPr>
        <p:spPr>
          <a:xfrm>
            <a:off x="3017520" y="3657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github.com/DeinerBS/Powershell-y-Logging-de-Seguridad</a:t>
            </a:r>
            <a:endParaRPr lang="en-US" sz="1800" dirty="0"/>
          </a:p>
        </p:txBody>
      </p:sp>
      <p:sp>
        <p:nvSpPr>
          <p:cNvPr id="5" name="autores-cierre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Deiner Brenes Soto · Warner Mora Taisigue</a:t>
            </a:r>
            <a:endParaRPr lang="en-US" sz="1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ola PowerShell">
  <a:themeElements>
    <a:clrScheme name="Consola PowerShell">
      <a:dk1>
        <a:srgbClr val="1B1F24"/>
      </a:dk1>
      <a:lt1>
        <a:srgbClr val="FFFFFF"/>
      </a:lt1>
      <a:dk2>
        <a:srgbClr val="012456"/>
      </a:dk2>
      <a:lt2>
        <a:srgbClr val="EEF2F7"/>
      </a:lt2>
      <a:accent1>
        <a:srgbClr val="F2B705"/>
      </a:accent1>
      <a:accent2>
        <a:srgbClr val="E5484D"/>
      </a:accent2>
      <a:accent3>
        <a:srgbClr val="2FA36B"/>
      </a:accent3>
      <a:accent4>
        <a:srgbClr val="4C8DF6"/>
      </a:accent4>
      <a:accent5>
        <a:srgbClr val="8A94A6"/>
      </a:accent5>
      <a:accent6>
        <a:srgbClr val="0B1730"/>
      </a:accent6>
      <a:hlink>
        <a:srgbClr val="4C8DF6"/>
      </a:hlink>
      <a:folHlink>
        <a:srgbClr val="8A94A6"/>
      </a:folHlink>
    </a:clrScheme>
    <a:fontScheme name="Consola PowerShel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1301</Words>
  <Application>Microsoft Office PowerPoint</Application>
  <PresentationFormat>Panorámica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Consola PowerShell</vt:lpstr>
      <vt:lpstr>Presentación de PowerPoint</vt:lpstr>
      <vt:lpstr>Pregunta e hipótesis</vt:lpstr>
      <vt:lpstr>Método: la misma prueba, antes y después</vt:lpstr>
      <vt:lpstr>Cómo funciona: script → JSON → app web</vt:lpstr>
      <vt:lpstr>Demo en vivo</vt:lpstr>
      <vt:lpstr>Por defecto, 4 de 7 visibilidades están apagadas</vt:lpstr>
      <vt:lpstr>Por defecto, 6 de 16 intentos fueron invisibles</vt:lpstr>
      <vt:lpstr>La regla “5 fallos en 2 minutos” detectó ambas pruebas</vt:lpstr>
      <vt:lpstr>Conclusión: la hipótesis se cumplió</vt:lpstr>
      <vt:lpstr>Lo que aprendimos usando IA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PowerShell y logging de seguridad en Windows</dc:title>
  <dc:subject>PptxGenJS Presentation</dc:subject>
  <dc:creator>Deiner Brenes Soto y Warner Mora Taisigue</dc:creator>
  <cp:lastModifiedBy>Deiner Brenes Soto</cp:lastModifiedBy>
  <cp:revision>2</cp:revision>
  <dcterms:created xsi:type="dcterms:W3CDTF">2026-10-24T19:57:48Z</dcterms:created>
  <dcterms:modified xsi:type="dcterms:W3CDTF">2026-10-24T20:25:25Z</dcterms:modified>
</cp:coreProperties>
</file>